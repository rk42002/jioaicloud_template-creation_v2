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P&amp;L SUMMARY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54864" cy="411480"/>
          </a:xfrm>
          <a:prstGeom prst="rect">
            <a:avLst/>
          </a:prstGeom>
          <a:solidFill>
            <a:srgbClr val="0078B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Unit Economics &amp; Cost Structure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[P&amp;L Summary — to be completed]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JioAICloud |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108960"/>
            <a:ext cx="347472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0"/>
            <a:ext cx="1184148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</a:rPr>
              <a:t>BUSINESS CASE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08960" y="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Why JioAICloud's Model Works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" y="530352"/>
            <a:ext cx="118414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" y="658368"/>
            <a:ext cx="11356848" cy="47548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65836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Variable cost architecture  ·  </a:t>
            </a:r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ARPU &amp; stickiness uplift  · 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Aligns to Sh. MDA's vision</a:t>
            </a:r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  →  A business Jio must own 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" y="1307592"/>
            <a:ext cx="7132320" cy="148132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" y="1261872"/>
            <a:ext cx="7132320" cy="1481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" y="1261872"/>
            <a:ext cx="7132320" cy="402336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" y="1261872"/>
            <a:ext cx="64008" cy="14813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1335024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1335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1832" y="131673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Variable Cost Model That Scales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08192" y="1353312"/>
            <a:ext cx="1371600" cy="23774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8" name="Text 16"/>
          <p:cNvSpPr/>
          <p:nvPr/>
        </p:nvSpPr>
        <p:spPr>
          <a:xfrm>
            <a:off x="6108192" y="1353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1E3A8A"/>
                </a:solidFill>
              </a:rPr>
              <a:t>COST EFFICIENCY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03504" y="1755648"/>
            <a:ext cx="68762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Compute is tiered by feature (T1/T2/T3) — not a flat pool — so unit economics improve as we dial controls. Storage becomes a recurring, monetisable fixed-cost asset, not a pure liability.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" y="2926080"/>
            <a:ext cx="7132320" cy="148132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Shape 19"/>
          <p:cNvSpPr/>
          <p:nvPr/>
        </p:nvSpPr>
        <p:spPr>
          <a:xfrm>
            <a:off x="438912" y="2880360"/>
            <a:ext cx="7132320" cy="1481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38912" y="2880360"/>
            <a:ext cx="7132320" cy="402336"/>
          </a:xfrm>
          <a:prstGeom prst="rect">
            <a:avLst/>
          </a:prstGeom>
          <a:solidFill>
            <a:srgbClr val="0078BE"/>
          </a:solidFill>
          <a:ln/>
        </p:spPr>
      </p:sp>
      <p:sp>
        <p:nvSpPr>
          <p:cNvPr id="23" name="Shape 21"/>
          <p:cNvSpPr/>
          <p:nvPr/>
        </p:nvSpPr>
        <p:spPr>
          <a:xfrm>
            <a:off x="438912" y="2880360"/>
            <a:ext cx="64008" cy="14813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2953512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1832" y="29352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Jio ARPU Growth &amp; Retention Play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08192" y="2971800"/>
            <a:ext cx="1371600" cy="237744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8" name="Text 26"/>
          <p:cNvSpPr/>
          <p:nvPr/>
        </p:nvSpPr>
        <p:spPr>
          <a:xfrm>
            <a:off x="6108192" y="2971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369A1"/>
                </a:solidFill>
              </a:rPr>
              <a:t>COMPETITIVE SIGNAL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03504" y="3374136"/>
            <a:ext cx="68762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Creation is the next stickiness lever — Airtel is already partnering with Adobe. JioAICloud owns this natively at Bharat scale, directly lifting ARPU and reducing churn before the window closes.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" y="4544568"/>
            <a:ext cx="7132320" cy="148132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1" name="Shape 29"/>
          <p:cNvSpPr/>
          <p:nvPr/>
        </p:nvSpPr>
        <p:spPr>
          <a:xfrm>
            <a:off x="438912" y="4498848"/>
            <a:ext cx="7132320" cy="1481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38912" y="4498848"/>
            <a:ext cx="7132320" cy="402336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3" name="Shape 31"/>
          <p:cNvSpPr/>
          <p:nvPr/>
        </p:nvSpPr>
        <p:spPr>
          <a:xfrm>
            <a:off x="438912" y="4498848"/>
            <a:ext cx="64008" cy="14813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Shape 32"/>
          <p:cNvSpPr/>
          <p:nvPr/>
        </p:nvSpPr>
        <p:spPr>
          <a:xfrm>
            <a:off x="566928" y="457200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41832" y="455371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Aligned to Sh. MDA's Vision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08192" y="4590288"/>
            <a:ext cx="1371600" cy="237744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8" name="Text 36"/>
          <p:cNvSpPr/>
          <p:nvPr/>
        </p:nvSpPr>
        <p:spPr>
          <a:xfrm>
            <a:off x="6108192" y="45902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65F46"/>
                </a:solidFill>
              </a:rPr>
              <a:t>STRATEGIC FIT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03504" y="4992624"/>
            <a:ext cx="68762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"Shaping how India communicates, computes and consumes content" — JioAICloud is Jio's Multimedia Arm, answering not just what we are building, but why now is the only moment to act.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818120" y="1261872"/>
            <a:ext cx="397764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7818120" y="12618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0B4D8"/>
                </a:solidFill>
              </a:rPr>
              <a:t>COST ARCHITECTURE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854696" y="1728216"/>
            <a:ext cx="3977640" cy="1170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3" name="Shape 41"/>
          <p:cNvSpPr/>
          <p:nvPr/>
        </p:nvSpPr>
        <p:spPr>
          <a:xfrm>
            <a:off x="7818120" y="1691640"/>
            <a:ext cx="3977640" cy="1170432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18120" y="1691640"/>
            <a:ext cx="82296" cy="117043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45" name="Text 43"/>
          <p:cNvSpPr/>
          <p:nvPr/>
        </p:nvSpPr>
        <p:spPr>
          <a:xfrm>
            <a:off x="7946136" y="1737360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F46"/>
                </a:solidFill>
              </a:rPr>
              <a:t>T1</a:t>
            </a:r>
            <a:endParaRPr lang="en-US" sz="2800" dirty="0"/>
          </a:p>
        </p:txBody>
      </p:sp>
      <p:sp>
        <p:nvSpPr>
          <p:cNvPr id="46" name="Shape 44"/>
          <p:cNvSpPr/>
          <p:nvPr/>
        </p:nvSpPr>
        <p:spPr>
          <a:xfrm>
            <a:off x="8567928" y="1783080"/>
            <a:ext cx="18288" cy="9875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8659368" y="1746504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Templates &amp; Posters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659368" y="198424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Good morning, festival cards, quote posters, text-on-image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659368" y="2459736"/>
            <a:ext cx="1234440" cy="25603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50" name="Text 48"/>
          <p:cNvSpPr/>
          <p:nvPr/>
        </p:nvSpPr>
        <p:spPr>
          <a:xfrm>
            <a:off x="8659368" y="245973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Near-zero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9966960" y="2441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Unlimited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966960" y="26060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engagement driver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854696" y="3035808"/>
            <a:ext cx="3977640" cy="1170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4" name="Shape 52"/>
          <p:cNvSpPr/>
          <p:nvPr/>
        </p:nvSpPr>
        <p:spPr>
          <a:xfrm>
            <a:off x="7818120" y="2999232"/>
            <a:ext cx="3977640" cy="1170432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18120" y="2999232"/>
            <a:ext cx="82296" cy="1170432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56" name="Text 54"/>
          <p:cNvSpPr/>
          <p:nvPr/>
        </p:nvSpPr>
        <p:spPr>
          <a:xfrm>
            <a:off x="7946136" y="3044952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</a:rPr>
              <a:t>T2</a:t>
            </a:r>
            <a:endParaRPr lang="en-US" sz="2800" dirty="0"/>
          </a:p>
        </p:txBody>
      </p:sp>
      <p:sp>
        <p:nvSpPr>
          <p:cNvPr id="57" name="Shape 55"/>
          <p:cNvSpPr/>
          <p:nvPr/>
        </p:nvSpPr>
        <p:spPr>
          <a:xfrm>
            <a:off x="8567928" y="3090672"/>
            <a:ext cx="18288" cy="9875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8" name="Text 56"/>
          <p:cNvSpPr/>
          <p:nvPr/>
        </p:nvSpPr>
        <p:spPr>
          <a:xfrm>
            <a:off x="8659368" y="3054096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Utility AI Editing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659368" y="32918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Background removal, passport photo, object cleanup, enhance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659368" y="3767328"/>
            <a:ext cx="1234440" cy="256032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61" name="Text 59"/>
          <p:cNvSpPr/>
          <p:nvPr/>
        </p:nvSpPr>
        <p:spPr>
          <a:xfrm>
            <a:off x="8659368" y="37673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₹0.20 – 0.80 / call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9966960" y="37490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5–8 / day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9966960" y="39136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baseline; upsell above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7854696" y="4343400"/>
            <a:ext cx="3977640" cy="1170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5" name="Shape 63"/>
          <p:cNvSpPr/>
          <p:nvPr/>
        </p:nvSpPr>
        <p:spPr>
          <a:xfrm>
            <a:off x="7818120" y="4306824"/>
            <a:ext cx="3977640" cy="1170432"/>
          </a:xfrm>
          <a:prstGeom prst="rect">
            <a:avLst/>
          </a:prstGeom>
          <a:solidFill>
            <a:srgbClr val="FFF1F1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818120" y="4306824"/>
            <a:ext cx="82296" cy="1170432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67" name="Text 65"/>
          <p:cNvSpPr/>
          <p:nvPr/>
        </p:nvSpPr>
        <p:spPr>
          <a:xfrm>
            <a:off x="7946136" y="4352544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F1D1D"/>
                </a:solidFill>
              </a:rPr>
              <a:t>T3</a:t>
            </a:r>
            <a:endParaRPr lang="en-US" sz="2800" dirty="0"/>
          </a:p>
        </p:txBody>
      </p:sp>
      <p:sp>
        <p:nvSpPr>
          <p:cNvPr id="68" name="Shape 66"/>
          <p:cNvSpPr/>
          <p:nvPr/>
        </p:nvSpPr>
        <p:spPr>
          <a:xfrm>
            <a:off x="8567928" y="4398264"/>
            <a:ext cx="18288" cy="9875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9" name="Text 67"/>
          <p:cNvSpPr/>
          <p:nvPr/>
        </p:nvSpPr>
        <p:spPr>
          <a:xfrm>
            <a:off x="8659368" y="4361688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1D1D"/>
                </a:solidFill>
              </a:rPr>
              <a:t>Deep AI Generation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659368" y="45994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Ghibli/style transfer, AI Camera, Memories Reels, poster from scratch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8659368" y="5074920"/>
            <a:ext cx="1234440" cy="256032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72" name="Text 70"/>
          <p:cNvSpPr/>
          <p:nvPr/>
        </p:nvSpPr>
        <p:spPr>
          <a:xfrm>
            <a:off x="8659368" y="5074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₹3 – 12 / call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966960" y="50566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</a:rPr>
              <a:t>1–2 / day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9966960" y="522122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conversion trigger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8659368" y="55412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Cost / call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9966960" y="55412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Free daily limit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0" y="5833872"/>
            <a:ext cx="12188952" cy="8046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8" name="Shape 76"/>
          <p:cNvSpPr/>
          <p:nvPr/>
        </p:nvSpPr>
        <p:spPr>
          <a:xfrm>
            <a:off x="347472" y="5833872"/>
            <a:ext cx="45720" cy="8046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9" name="Text 77"/>
          <p:cNvSpPr/>
          <p:nvPr/>
        </p:nvSpPr>
        <p:spPr>
          <a:xfrm>
            <a:off x="475488" y="5833872"/>
            <a:ext cx="274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4D8"/>
                </a:solidFill>
              </a:rPr>
              <a:t>"</a:t>
            </a:r>
            <a:endParaRPr lang="en-US" sz="3000" dirty="0"/>
          </a:p>
        </p:txBody>
      </p:sp>
      <p:sp>
        <p:nvSpPr>
          <p:cNvPr id="80" name="Text 78"/>
          <p:cNvSpPr/>
          <p:nvPr/>
        </p:nvSpPr>
        <p:spPr>
          <a:xfrm>
            <a:off x="804672" y="5833872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Shaping how India communicates, computes and consumes content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  —  Sh. MDA, Q4 Leadership Address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8595360" y="5925312"/>
            <a:ext cx="100584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2" name="Text 80"/>
          <p:cNvSpPr/>
          <p:nvPr/>
        </p:nvSpPr>
        <p:spPr>
          <a:xfrm>
            <a:off x="8595360" y="59253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F172A"/>
                </a:solidFill>
              </a:rPr>
              <a:t>WHY NOW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8595360" y="62362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Gemini window closing · Airtel moving · Bharat unserved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9784080" y="66568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JioAICloud | Confidential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2026-04-28T05:16:00Z</dcterms:created>
  <dcterms:modified xsi:type="dcterms:W3CDTF">2026-04-28T05:16:00Z</dcterms:modified>
</cp:coreProperties>
</file>