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P&amp;L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Unit Economics &amp; Cost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[P&amp;L Summary — to be completed]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JioAICloud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08960"/>
            <a:ext cx="347472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0"/>
            <a:ext cx="118414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</a:rPr>
              <a:t>BUSINESS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JioAICloud's Model 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530352"/>
            <a:ext cx="11841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658368"/>
            <a:ext cx="11356848" cy="4754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6583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Variable cost architecture  ·  </a:t>
            </a:r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ARPU &amp; stickiness uplift  ·  </a:t>
            </a:r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Aligns to Sh. MDA's vision</a:t>
            </a:r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  →  A business Jio must own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1307592"/>
            <a:ext cx="7132320" cy="1481328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" y="1261872"/>
            <a:ext cx="7132320" cy="1481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261872"/>
            <a:ext cx="7132320" cy="40233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" y="1261872"/>
            <a:ext cx="64008" cy="14813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133502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" y="1316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Variable Cost Model That Scales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1353312"/>
            <a:ext cx="1371600" cy="2377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353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E3A8A"/>
                </a:solidFill>
              </a:rPr>
              <a:t>COST EFFICIENCY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3504" y="1755648"/>
            <a:ext cx="6876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Compute is tiered by feature (T1/T2/T3) — not a flat pool — so unit economics improve as we dial controls. Storage becomes a recurring, monetisable fixed-cost asset, not a pure liability.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" y="2926080"/>
            <a:ext cx="7132320" cy="1481328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2880360"/>
            <a:ext cx="7132320" cy="1481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2880360"/>
            <a:ext cx="7132320" cy="40233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880360"/>
            <a:ext cx="64008" cy="1481328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2953512"/>
            <a:ext cx="274320" cy="274320"/>
          </a:xfrm>
          <a:prstGeom prst="ellipse">
            <a:avLst/>
          </a:prstGeom>
          <a:solidFill>
            <a:srgbClr val="0078BE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" y="2935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Jio ARPU Growth &amp; Retention Play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08192" y="2971800"/>
            <a:ext cx="1371600" cy="2377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6108192" y="2971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3366"/>
                </a:solidFill>
              </a:rPr>
              <a:t>COMPETITIVE SIGNAL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3504" y="3374136"/>
            <a:ext cx="6876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Creation is the next stickiness lever — Airtel is already partnering with Adobe. JioAICloud owns this natively at Bharat scale, directly lifting ARPU and reducing churn before the window closes.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" y="4544568"/>
            <a:ext cx="7132320" cy="1481328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31" name="Shape 29"/>
          <p:cNvSpPr/>
          <p:nvPr/>
        </p:nvSpPr>
        <p:spPr>
          <a:xfrm>
            <a:off x="438912" y="4498848"/>
            <a:ext cx="7132320" cy="1481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38912" y="4498848"/>
            <a:ext cx="7132320" cy="402336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4498848"/>
            <a:ext cx="64008" cy="14813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457200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1832" y="45537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Aligned to Sh. MDA's Vision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08192" y="4590288"/>
            <a:ext cx="1371600" cy="237744"/>
          </a:xfrm>
          <a:prstGeom prst="rect">
            <a:avLst/>
          </a:prstGeom>
          <a:solidFill>
            <a:srgbClr val="EBF3FA"/>
          </a:solidFill>
          <a:ln/>
        </p:spPr>
      </p:sp>
      <p:sp>
        <p:nvSpPr>
          <p:cNvPr id="38" name="Text 36"/>
          <p:cNvSpPr/>
          <p:nvPr/>
        </p:nvSpPr>
        <p:spPr>
          <a:xfrm>
            <a:off x="6108192" y="45902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3366"/>
                </a:solidFill>
              </a:rPr>
              <a:t>STRATEGIC FIT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3504" y="4992624"/>
            <a:ext cx="68762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"Shaping how India communicates, computes and consumes content" — JioAICloud is Jio's Multimedia Arm, answering not just what we are building, but why now is the only moment to act.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818120" y="1261872"/>
            <a:ext cx="397764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12618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COST ARCHITECTURE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54696" y="1728216"/>
            <a:ext cx="3977640" cy="1170432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8120" y="1691640"/>
            <a:ext cx="3977640" cy="1170432"/>
          </a:xfrm>
          <a:prstGeom prst="rect">
            <a:avLst/>
          </a:prstGeom>
          <a:solidFill>
            <a:srgbClr val="E7ED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1691640"/>
            <a:ext cx="82296" cy="1170432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5" name="Text 43"/>
          <p:cNvSpPr/>
          <p:nvPr/>
        </p:nvSpPr>
        <p:spPr>
          <a:xfrm>
            <a:off x="7946136" y="173736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060"/>
                </a:solidFill>
              </a:rPr>
              <a:t>T1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8567928" y="1783080"/>
            <a:ext cx="18288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8659368" y="174650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60"/>
                </a:solidFill>
              </a:rPr>
              <a:t>Templates &amp; Posters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59368" y="19842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Good morning, festival cards, quote posters, text-on-image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59368" y="2459736"/>
            <a:ext cx="1234440" cy="256032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0" name="Text 48"/>
          <p:cNvSpPr/>
          <p:nvPr/>
        </p:nvSpPr>
        <p:spPr>
          <a:xfrm>
            <a:off x="8659368" y="2459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Near-zero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966960" y="2441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Unlimited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966960" y="26060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engagement driver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854696" y="3035808"/>
            <a:ext cx="3977640" cy="1170432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54" name="Shape 52"/>
          <p:cNvSpPr/>
          <p:nvPr/>
        </p:nvSpPr>
        <p:spPr>
          <a:xfrm>
            <a:off x="7818120" y="2999232"/>
            <a:ext cx="3977640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2999232"/>
            <a:ext cx="82296" cy="11704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6" name="Text 54"/>
          <p:cNvSpPr/>
          <p:nvPr/>
        </p:nvSpPr>
        <p:spPr>
          <a:xfrm>
            <a:off x="7946136" y="304495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T2</a:t>
            </a:r>
            <a:endParaRPr lang="en-US" sz="2800" dirty="0"/>
          </a:p>
        </p:txBody>
      </p:sp>
      <p:sp>
        <p:nvSpPr>
          <p:cNvPr id="57" name="Shape 55"/>
          <p:cNvSpPr/>
          <p:nvPr/>
        </p:nvSpPr>
        <p:spPr>
          <a:xfrm>
            <a:off x="8567928" y="3090672"/>
            <a:ext cx="18288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8659368" y="30540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Utility AI Editing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59368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Background removal, passport photo, object cleanup, enhance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659368" y="3767328"/>
            <a:ext cx="1234440" cy="2560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1" name="Text 59"/>
          <p:cNvSpPr/>
          <p:nvPr/>
        </p:nvSpPr>
        <p:spPr>
          <a:xfrm>
            <a:off x="8659368" y="37673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₹0.20 – 0.80 / call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966960" y="3749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5–8 / day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966960" y="3913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baseline; upsell above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854696" y="4343400"/>
            <a:ext cx="3977640" cy="1170432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65" name="Shape 63"/>
          <p:cNvSpPr/>
          <p:nvPr/>
        </p:nvSpPr>
        <p:spPr>
          <a:xfrm>
            <a:off x="7818120" y="4306824"/>
            <a:ext cx="3977640" cy="1170432"/>
          </a:xfrm>
          <a:prstGeom prst="rect">
            <a:avLst/>
          </a:prstGeom>
          <a:solidFill>
            <a:srgbClr val="EBF3FA"/>
          </a:solidFill>
          <a:ln w="12700">
            <a:solidFill>
              <a:srgbClr val="0078B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18120" y="4306824"/>
            <a:ext cx="82296" cy="1170432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67" name="Text 65"/>
          <p:cNvSpPr/>
          <p:nvPr/>
        </p:nvSpPr>
        <p:spPr>
          <a:xfrm>
            <a:off x="7946136" y="435254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8BE"/>
                </a:solidFill>
              </a:rPr>
              <a:t>T3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8567928" y="4398264"/>
            <a:ext cx="18288" cy="987552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69" name="Text 67"/>
          <p:cNvSpPr/>
          <p:nvPr/>
        </p:nvSpPr>
        <p:spPr>
          <a:xfrm>
            <a:off x="8659368" y="43616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BE"/>
                </a:solidFill>
              </a:rPr>
              <a:t>Deep AI Generation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659368" y="45994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Ghibli/style transfer, AI Camera, Memories Reels, poster from scratch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659368" y="5074920"/>
            <a:ext cx="1234440" cy="256032"/>
          </a:xfrm>
          <a:prstGeom prst="rect">
            <a:avLst/>
          </a:prstGeom>
          <a:solidFill>
            <a:srgbClr val="0078BE"/>
          </a:solidFill>
          <a:ln/>
        </p:spPr>
      </p:sp>
      <p:sp>
        <p:nvSpPr>
          <p:cNvPr id="72" name="Text 70"/>
          <p:cNvSpPr/>
          <p:nvPr/>
        </p:nvSpPr>
        <p:spPr>
          <a:xfrm>
            <a:off x="8659368" y="5074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₹3 – 12 / call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966960" y="50566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</a:rPr>
              <a:t>1–2 / day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966960" y="5221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conversion trigger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659368" y="5541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Cost / call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966960" y="55412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Free daily limit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0" y="5833872"/>
            <a:ext cx="12188952" cy="804672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8" name="Shape 76"/>
          <p:cNvSpPr/>
          <p:nvPr/>
        </p:nvSpPr>
        <p:spPr>
          <a:xfrm>
            <a:off x="347472" y="5833872"/>
            <a:ext cx="45720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9" name="Text 77"/>
          <p:cNvSpPr/>
          <p:nvPr/>
        </p:nvSpPr>
        <p:spPr>
          <a:xfrm>
            <a:off x="475488" y="5833872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"</a:t>
            </a:r>
            <a:endParaRPr lang="en-US" sz="3000" dirty="0"/>
          </a:p>
        </p:txBody>
      </p:sp>
      <p:sp>
        <p:nvSpPr>
          <p:cNvPr id="80" name="Text 78"/>
          <p:cNvSpPr/>
          <p:nvPr/>
        </p:nvSpPr>
        <p:spPr>
          <a:xfrm>
            <a:off x="804672" y="583387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Shaping how India communicates, computes and consumes content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  —  Sh. MDA, Q4 Leadership Address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595360" y="5925312"/>
            <a:ext cx="100584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2" name="Text 80"/>
          <p:cNvSpPr/>
          <p:nvPr/>
        </p:nvSpPr>
        <p:spPr>
          <a:xfrm>
            <a:off x="8595360" y="5925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2060"/>
                </a:solidFill>
              </a:rPr>
              <a:t>WHY NOW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595360" y="6236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Gemini window closing  ·  Airtel moving  ·  Bharat unserved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9784080" y="6656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JioAICloud |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2026-04-28T06:41:49Z</dcterms:created>
  <dcterms:modified xsi:type="dcterms:W3CDTF">2026-04-28T06:41:49Z</dcterms:modified>
</cp:coreProperties>
</file>